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410" r:id="rId5"/>
    <p:sldId id="414" r:id="rId6"/>
    <p:sldId id="416" r:id="rId7"/>
    <p:sldId id="425" r:id="rId8"/>
    <p:sldId id="424" r:id="rId9"/>
    <p:sldId id="423" r:id="rId10"/>
    <p:sldId id="422" r:id="rId11"/>
    <p:sldId id="421" r:id="rId12"/>
    <p:sldId id="420" r:id="rId13"/>
    <p:sldId id="41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E71F2-7CFF-4E65-BF44-B40C7DDFB951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5BC83-13A1-4B83-8023-87231E5AFFA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03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foli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D3BC99-1501-9A6E-EA25-76924A43CB4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15079" y="1208309"/>
            <a:ext cx="6212340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Referentenname</a:t>
            </a:r>
          </a:p>
          <a:p>
            <a:pPr lvl="0"/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FE4D742-4AC2-9F56-6B2A-EAFD950DDC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08833" y="151100"/>
            <a:ext cx="11142243" cy="1007559"/>
          </a:xfrm>
          <a:prstGeom prst="rect">
            <a:avLst/>
          </a:prstGeom>
          <a:noFill/>
          <a:effectLst>
            <a:softEdge rad="317500"/>
          </a:effectLst>
        </p:spPr>
        <p:txBody>
          <a:bodyPr anchor="ctr" anchorCtr="0"/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Präsentationstitel eingeben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59D2F814-9087-CD61-B36A-B95223C007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6010" y="1565943"/>
            <a:ext cx="6211409" cy="325785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30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Firma</a:t>
            </a:r>
          </a:p>
          <a:p>
            <a:pPr lvl="0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59D8CF3-E224-E9B9-265A-51C8C0C543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A6BEDAE-6225-70DF-5C1E-68C5E15C42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180" y="3103672"/>
            <a:ext cx="904876" cy="44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5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840">
          <p15:clr>
            <a:srgbClr val="FBAE40"/>
          </p15:clr>
        </p15:guide>
        <p15:guide id="8" orient="horz" pos="20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C14010-9D5D-93D2-AB81-880930406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FB4F0257-AE55-0D86-3195-883F1BEEC5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9" y="152400"/>
            <a:ext cx="7527924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Inhaltsverzeichnis</a:t>
            </a:r>
          </a:p>
        </p:txBody>
      </p:sp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1514466"/>
            <a:ext cx="7312025" cy="4654550"/>
          </a:xfrm>
          <a:prstGeom prst="rect">
            <a:avLst/>
          </a:prstGeom>
        </p:spPr>
        <p:txBody>
          <a:bodyPr/>
          <a:lstStyle>
            <a:lvl1pPr marL="457200" marR="0" indent="-457200" algn="l" defTabSz="916494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bg1"/>
              </a:buClr>
              <a:buSzTx/>
              <a:buFont typeface="+mj-lt"/>
              <a:buAutoNum type="arabicPeriod"/>
              <a:tabLst/>
              <a:defRPr sz="2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pic>
        <p:nvPicPr>
          <p:cNvPr id="16" name="Grafik 15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94316F23-B7F3-AA3F-CE00-A3543B5BBD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20" name="Fußzeilenplatzhalter 4">
            <a:extLst>
              <a:ext uri="{FF2B5EF4-FFF2-40B4-BE49-F238E27FC236}">
                <a16:creationId xmlns:a16="http://schemas.microsoft.com/office/drawing/2014/main" id="{AFAD78ED-0809-A658-6027-E68A98AF5524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50CAF4-D9B2-810F-1E85-C1796AA980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76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7" pos="39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FEBF229-D501-1C11-A2CB-6ADD75BA0D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9" name="Textplatzhalter 2"/>
          <p:cNvSpPr>
            <a:spLocks noGrp="1"/>
          </p:cNvSpPr>
          <p:nvPr userDrawn="1">
            <p:ph type="body" sz="quarter" idx="11"/>
          </p:nvPr>
        </p:nvSpPr>
        <p:spPr>
          <a:xfrm>
            <a:off x="731838" y="2079408"/>
            <a:ext cx="7402511" cy="825180"/>
          </a:xfrm>
          <a:prstGeom prst="rect">
            <a:avLst/>
          </a:prstGeom>
          <a:ln w="28575">
            <a:noFill/>
          </a:ln>
        </p:spPr>
        <p:txBody>
          <a:bodyPr wrap="square" lIns="90000" tIns="180000" rIns="90000" bIns="180000">
            <a:spAutoFit/>
          </a:bodyPr>
          <a:lstStyle>
            <a:lvl1pPr marL="0" marR="0" indent="0" algn="l" defTabSz="916494" rtl="0" eaLnBrk="1" fontAlgn="base" latinLnBrk="0" hangingPunct="1">
              <a:lnSpc>
                <a:spcPct val="100000"/>
              </a:lnSpc>
              <a:spcBef>
                <a:spcPct val="40000"/>
              </a:spcBef>
              <a:spcAft>
                <a:spcPct val="30000"/>
              </a:spcAft>
              <a:buClr>
                <a:schemeClr val="accent1"/>
              </a:buClr>
              <a:buSzTx/>
              <a:buFont typeface="+mj-lt"/>
              <a:buNone/>
              <a:tabLst/>
              <a:defRPr sz="3000" b="0">
                <a:solidFill>
                  <a:schemeClr val="bg1"/>
                </a:solidFill>
                <a:latin typeface="+mj-lt"/>
              </a:defRPr>
            </a:lvl1pPr>
            <a:lvl2pPr marL="457189" indent="0">
              <a:buFont typeface="Symbol" panose="05050102010706020507" pitchFamily="18" charset="2"/>
              <a:buNone/>
              <a:defRPr/>
            </a:lvl2pPr>
            <a:lvl3pPr marL="914377" indent="0">
              <a:buFont typeface="Symbol" panose="05050102010706020507" pitchFamily="18" charset="2"/>
              <a:buNone/>
              <a:defRPr/>
            </a:lvl3pPr>
            <a:lvl4pPr marL="1371566" indent="0">
              <a:buFont typeface="Symbol" panose="05050102010706020507" pitchFamily="18" charset="2"/>
              <a:buNone/>
              <a:defRPr/>
            </a:lvl4pPr>
          </a:lstStyle>
          <a:p>
            <a:pPr lvl="0"/>
            <a:endParaRPr lang="de-DE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F00CDABE-5B67-1FF1-3374-54884A10CB0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15938" y="152400"/>
            <a:ext cx="7569545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Kapitel</a:t>
            </a:r>
          </a:p>
        </p:txBody>
      </p:sp>
      <p:pic>
        <p:nvPicPr>
          <p:cNvPr id="4" name="Grafik 3" descr="Ein Bild, das Schrift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C4772628-E593-3E2B-A274-B0791F5520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828" y="6127479"/>
            <a:ext cx="469867" cy="469867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452F30DB-D2E3-4616-5FB0-B399C175D22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>
                <a:solidFill>
                  <a:schemeClr val="bg1"/>
                </a:solidFill>
                <a:latin typeface="+mn-lt"/>
                <a:cs typeface="Helvetica Light"/>
              </a:rPr>
              <a:t>Seite ‹Nr.› | 20. August 2025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5086C93-E5D3-2854-1F7B-90EFE17869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58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8" orient="horz" pos="96">
          <p15:clr>
            <a:srgbClr val="FBAE40"/>
          </p15:clr>
        </p15:guide>
        <p15:guide id="10" pos="393">
          <p15:clr>
            <a:srgbClr val="FBAE40"/>
          </p15:clr>
        </p15:guide>
        <p15:guide id="12" orient="horz" pos="66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9">
            <a:extLst>
              <a:ext uri="{FF2B5EF4-FFF2-40B4-BE49-F238E27FC236}">
                <a16:creationId xmlns:a16="http://schemas.microsoft.com/office/drawing/2014/main" id="{2632BA4D-ECC8-4004-A450-F16361C7B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10937875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C2D15EB4-B6C6-44F8-BF33-6EA7629071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9253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2489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orient="horz" pos="527">
          <p15:clr>
            <a:srgbClr val="FBAE40"/>
          </p15:clr>
        </p15:guide>
        <p15:guide id="3" orient="horz" pos="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E5363237-72B2-46B1-B2A3-6483E032D7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813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32A60FC3-BAC6-4CBD-8D26-83346590B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91288" y="1341437"/>
            <a:ext cx="5113337" cy="488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  <a:lvl2pPr marL="228600" indent="-228600">
              <a:buClr>
                <a:schemeClr val="accent1"/>
              </a:buClr>
              <a:buFont typeface="Arial" panose="020B0604020202020204" pitchFamily="34" charset="0"/>
              <a:buChar char="•"/>
              <a:defRPr sz="2000" b="1">
                <a:solidFill>
                  <a:schemeClr val="accent1"/>
                </a:solidFill>
                <a:latin typeface="+mn-lt"/>
              </a:defRPr>
            </a:lvl2pPr>
            <a:lvl3pPr marL="539750" indent="-228600">
              <a:buClr>
                <a:schemeClr val="accent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chemeClr val="accent1"/>
                </a:solidFill>
                <a:latin typeface="+mn-lt"/>
              </a:defRPr>
            </a:lvl3pPr>
            <a:lvl4pPr marL="896938" indent="-228600">
              <a:buClr>
                <a:schemeClr val="accent6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/>
                </a:solidFill>
                <a:latin typeface="+mn-lt"/>
              </a:defRPr>
            </a:lvl4pPr>
            <a:lvl5pPr marL="1260000" indent="-228600">
              <a:buFont typeface="Arial" panose="020B0604020202020204" pitchFamily="34" charset="0"/>
              <a:buChar char="•"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A4AF7D2-9104-4284-B7C3-77AAF33D79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9" y="152400"/>
            <a:ext cx="10664252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80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3" pos="4089">
          <p15:clr>
            <a:srgbClr val="FBAE40"/>
          </p15:clr>
        </p15:guide>
        <p15:guide id="4" orient="horz" pos="96">
          <p15:clr>
            <a:srgbClr val="FBAE40"/>
          </p15:clr>
        </p15:guide>
        <p15:guide id="5" orient="horz" pos="527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2EC2443-8338-45D2-BBEB-BC1D6C9E34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52400"/>
            <a:ext cx="10372021" cy="685800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+mj-lt"/>
              </a:defRPr>
            </a:lvl1pPr>
            <a:lvl2pPr algn="r">
              <a:defRPr sz="2400">
                <a:solidFill>
                  <a:srgbClr val="DE7008"/>
                </a:solidFill>
                <a:latin typeface="+mj-lt"/>
              </a:defRPr>
            </a:lvl2pPr>
            <a:lvl3pPr algn="r">
              <a:defRPr sz="2400">
                <a:solidFill>
                  <a:srgbClr val="DE7008"/>
                </a:solidFill>
                <a:latin typeface="+mj-lt"/>
              </a:defRPr>
            </a:lvl3pPr>
            <a:lvl4pPr algn="r">
              <a:defRPr sz="2400">
                <a:solidFill>
                  <a:srgbClr val="DE7008"/>
                </a:solidFill>
                <a:latin typeface="+mj-lt"/>
              </a:defRPr>
            </a:lvl4pPr>
            <a:lvl5pPr algn="r">
              <a:defRPr sz="2400">
                <a:solidFill>
                  <a:srgbClr val="DE7008"/>
                </a:solidFill>
                <a:latin typeface="+mj-lt"/>
              </a:defRPr>
            </a:lvl5pPr>
          </a:lstStyle>
          <a:p>
            <a:pPr lvl="0"/>
            <a:r>
              <a:rPr lang="de-DE"/>
              <a:t>TITEL, </a:t>
            </a:r>
            <a:r>
              <a:rPr lang="de-DE" err="1"/>
              <a:t>ARIal</a:t>
            </a:r>
            <a:r>
              <a:rPr lang="de-DE"/>
              <a:t> </a:t>
            </a:r>
            <a:r>
              <a:rPr lang="de-DE" err="1"/>
              <a:t>black</a:t>
            </a:r>
            <a:r>
              <a:rPr lang="de-DE"/>
              <a:t>, Versal,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321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  <p15:guide id="2" orient="horz" pos="96">
          <p15:clr>
            <a:srgbClr val="FBAE40"/>
          </p15:clr>
        </p15:guide>
        <p15:guide id="3" pos="751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fik 51">
            <a:extLst>
              <a:ext uri="{FF2B5EF4-FFF2-40B4-BE49-F238E27FC236}">
                <a16:creationId xmlns:a16="http://schemas.microsoft.com/office/drawing/2014/main" id="{D08638B7-8914-4FE8-6501-5FF6B02F2D9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52512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ED80C01-6ED9-D6FC-028D-7513E64A62F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419" y="6121758"/>
            <a:ext cx="479069" cy="479069"/>
          </a:xfrm>
          <a:prstGeom prst="rect">
            <a:avLst/>
          </a:prstGeom>
        </p:spPr>
      </p:pic>
      <p:sp>
        <p:nvSpPr>
          <p:cNvPr id="53" name="Fußzeilenplatzhalter 4">
            <a:extLst>
              <a:ext uri="{FF2B5EF4-FFF2-40B4-BE49-F238E27FC236}">
                <a16:creationId xmlns:a16="http://schemas.microsoft.com/office/drawing/2014/main" id="{31C043C4-F47A-2157-0442-183B00A3D87D}"/>
              </a:ext>
            </a:extLst>
          </p:cNvPr>
          <p:cNvSpPr txBox="1">
            <a:spLocks/>
          </p:cNvSpPr>
          <p:nvPr userDrawn="1"/>
        </p:nvSpPr>
        <p:spPr>
          <a:xfrm>
            <a:off x="528749" y="6361055"/>
            <a:ext cx="3335217" cy="390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Seite </a:t>
            </a:r>
            <a:fld id="{7FD7DF29-E8E3-4708-BB7D-9CBFA104EEF9}" type="slidenum">
              <a:rPr lang="de-DE" sz="900" b="0" i="0" smtClean="0">
                <a:solidFill>
                  <a:schemeClr val="accent1"/>
                </a:solidFill>
                <a:latin typeface="+mn-lt"/>
                <a:cs typeface="Helvetica Light"/>
              </a:rPr>
              <a:t>‹#›</a:t>
            </a:fld>
            <a:r>
              <a:rPr lang="de-DE" sz="900" b="0" i="0" dirty="0">
                <a:solidFill>
                  <a:schemeClr val="accent1"/>
                </a:solidFill>
                <a:latin typeface="+mn-lt"/>
                <a:cs typeface="Helvetica Light"/>
              </a:rPr>
              <a:t> | 19. März 2026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B6EBBEA-F17E-D792-5468-8FC4399CD58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1380936" y="155085"/>
            <a:ext cx="67945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4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33">
          <a:solidFill>
            <a:srgbClr val="7B2F11"/>
          </a:solidFill>
          <a:latin typeface="Arial Black" pitchFamily="34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>
          <a:solidFill>
            <a:schemeClr val="bg1"/>
          </a:solidFill>
          <a:latin typeface="Arial Black" pitchFamily="34" charset="0"/>
        </a:defRPr>
      </a:lvl9pPr>
    </p:titleStyle>
    <p:bodyStyle>
      <a:lvl1pPr marL="457189" indent="-457189" algn="l" defTabSz="916494" rtl="0" eaLnBrk="1" fontAlgn="base" hangingPunct="1">
        <a:spcBef>
          <a:spcPct val="40000"/>
        </a:spcBef>
        <a:spcAft>
          <a:spcPct val="30000"/>
        </a:spcAft>
        <a:buClr>
          <a:srgbClr val="00608C"/>
        </a:buClr>
        <a:buFont typeface="Wingdings" pitchFamily="2" charset="2"/>
        <a:defRPr sz="2400" b="1">
          <a:solidFill>
            <a:srgbClr val="292929"/>
          </a:solidFill>
          <a:latin typeface="+mn-lt"/>
          <a:ea typeface="+mn-ea"/>
          <a:cs typeface="+mn-cs"/>
        </a:defRPr>
      </a:lvl1pPr>
      <a:lvl2pPr marL="482588" indent="-239178" algn="l" defTabSz="916494" rtl="0" eaLnBrk="1" fontAlgn="base" hangingPunct="1">
        <a:spcBef>
          <a:spcPct val="0"/>
        </a:spcBef>
        <a:spcAft>
          <a:spcPct val="40000"/>
        </a:spcAft>
        <a:buClr>
          <a:schemeClr val="accent2"/>
        </a:buClr>
        <a:buSzPct val="100000"/>
        <a:buFont typeface="Arial" panose="020B0604020202020204" pitchFamily="34" charset="0"/>
        <a:buChar char="&gt;"/>
        <a:defRPr sz="2133">
          <a:solidFill>
            <a:srgbClr val="292929"/>
          </a:solidFill>
          <a:latin typeface="+mn-lt"/>
        </a:defRPr>
      </a:lvl2pPr>
      <a:lvl3pPr marL="956709" indent="-237061" algn="l" defTabSz="916494" rtl="0" eaLnBrk="1" fontAlgn="base" hangingPunct="1">
        <a:spcBef>
          <a:spcPct val="0"/>
        </a:spcBef>
        <a:spcAft>
          <a:spcPct val="50000"/>
        </a:spcAft>
        <a:buClr>
          <a:schemeClr val="tx2">
            <a:lumMod val="50000"/>
          </a:schemeClr>
        </a:buClr>
        <a:buSzPct val="120000"/>
        <a:buFont typeface="Arial" panose="020B0604020202020204" pitchFamily="34" charset="0"/>
        <a:buChar char="•"/>
        <a:defRPr sz="1867">
          <a:solidFill>
            <a:srgbClr val="292929"/>
          </a:solidFill>
          <a:latin typeface="+mn-lt"/>
        </a:defRPr>
      </a:lvl3pPr>
      <a:lvl4pPr marL="235790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974940"/>
        </a:buClr>
        <a:buFont typeface="Wingdings" pitchFamily="2" charset="2"/>
        <a:buChar char="l"/>
        <a:defRPr sz="2133">
          <a:solidFill>
            <a:srgbClr val="292929"/>
          </a:solidFill>
          <a:latin typeface="+mn-lt"/>
        </a:defRPr>
      </a:lvl4pPr>
      <a:lvl5pPr marL="297384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5pPr>
      <a:lvl6pPr marL="3583428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6pPr>
      <a:lvl7pPr marL="4193013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7pPr>
      <a:lvl8pPr marL="4802597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8pPr>
      <a:lvl9pPr marL="5412182" indent="-361942" algn="l" defTabSz="916494" rtl="0" eaLnBrk="1" fontAlgn="base" hangingPunct="1">
        <a:spcBef>
          <a:spcPct val="0"/>
        </a:spcBef>
        <a:spcAft>
          <a:spcPct val="50000"/>
        </a:spcAft>
        <a:buClr>
          <a:srgbClr val="11124B"/>
        </a:buClr>
        <a:buChar char="§"/>
        <a:defRPr sz="1867">
          <a:solidFill>
            <a:srgbClr val="292929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4156" userDrawn="1">
          <p15:clr>
            <a:srgbClr val="F26B43"/>
          </p15:clr>
        </p15:guide>
        <p15:guide id="11" orient="horz" pos="845">
          <p15:clr>
            <a:srgbClr val="F26B43"/>
          </p15:clr>
        </p15:guide>
        <p15:guide id="13" orient="horz">
          <p15:clr>
            <a:srgbClr val="F26B43"/>
          </p15:clr>
        </p15:guide>
        <p15:guide id="14" pos="325">
          <p15:clr>
            <a:srgbClr val="F26B43"/>
          </p15:clr>
        </p15:guide>
        <p15:guide id="15" pos="7514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3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icks.com/css-sprites/" TargetMode="External"/><Relationship Id="rId2" Type="http://schemas.openxmlformats.org/officeDocument/2006/relationships/hyperlink" Target="https://css-tricks.com/examples/IconFon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ui5.github.io/cli/v4/pages/Builder/" TargetMode="External"/><Relationship Id="rId5" Type="http://schemas.openxmlformats.org/officeDocument/2006/relationships/hyperlink" Target="https://css-tricks.com/svg-sprites-use-better-icon-fonts/" TargetMode="External"/><Relationship Id="rId4" Type="http://schemas.openxmlformats.org/officeDocument/2006/relationships/hyperlink" Target="https://css-tricks.com/spriting-img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3A33C9-C584-1139-83AD-2C04709E2D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Joaquin Recio Huertas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A4A300B-6AAE-1F79-5A6E-CA870BD0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CA262 - Analyze and </a:t>
            </a:r>
            <a:r>
              <a:rPr lang="de-DE" dirty="0" err="1"/>
              <a:t>optimize</a:t>
            </a:r>
            <a:r>
              <a:rPr lang="de-DE" dirty="0"/>
              <a:t> front-end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6A57A2-5A15-4D29-E24D-4827F8992B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SAP SE</a:t>
            </a:r>
          </a:p>
        </p:txBody>
      </p:sp>
    </p:spTree>
    <p:extLst>
      <p:ext uri="{BB962C8B-B14F-4D97-AF65-F5344CB8AC3E}">
        <p14:creationId xmlns:p14="http://schemas.microsoft.com/office/powerpoint/2010/main" val="222667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72C0053-9CCE-33F6-9601-0F5F20F304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Meet the </a:t>
            </a:r>
            <a:r>
              <a:rPr lang="de-DE" dirty="0" err="1"/>
              <a:t>speakers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C5C213-E5F1-2D7E-4E51-36CC919290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72" t="14575" r="29685" b="25732"/>
          <a:stretch/>
        </p:blipFill>
        <p:spPr>
          <a:xfrm>
            <a:off x="963207" y="1871227"/>
            <a:ext cx="1804500" cy="1804523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AA98C-BCBA-A52F-872E-EB053B1FE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99"/>
          <a:stretch>
            <a:fillRect/>
          </a:stretch>
        </p:blipFill>
        <p:spPr>
          <a:xfrm>
            <a:off x="5193738" y="1871227"/>
            <a:ext cx="1804523" cy="1804523"/>
          </a:xfrm>
          <a:prstGeom prst="ellipse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708F8C86-652C-EFD5-54C6-86A45F7CA489}"/>
              </a:ext>
            </a:extLst>
          </p:cNvPr>
          <p:cNvSpPr txBox="1">
            <a:spLocks/>
          </p:cNvSpPr>
          <p:nvPr/>
        </p:nvSpPr>
        <p:spPr>
          <a:xfrm>
            <a:off x="427257" y="3873500"/>
            <a:ext cx="2876400" cy="2332758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algn="ctr"/>
            <a:r>
              <a:rPr lang="de-DE" sz="1400" kern="0" dirty="0"/>
              <a:t>Joaquin Recio Huertas</a:t>
            </a:r>
          </a:p>
          <a:p>
            <a:pPr algn="ctr"/>
            <a:r>
              <a:rPr lang="de-DE" sz="1400" b="0" kern="0" dirty="0"/>
              <a:t>Front-End Performance Expert</a:t>
            </a:r>
          </a:p>
          <a:p>
            <a:pPr algn="ctr"/>
            <a:r>
              <a:rPr lang="de-DE" sz="1400" b="0" kern="0" dirty="0"/>
              <a:t>SAP SE</a:t>
            </a:r>
          </a:p>
          <a:p>
            <a:pPr algn="ctr"/>
            <a:endParaRPr lang="de-DE" sz="1200" kern="0" dirty="0"/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C3818C82-FC0A-42E9-6311-D62D457E2534}"/>
              </a:ext>
            </a:extLst>
          </p:cNvPr>
          <p:cNvSpPr txBox="1">
            <a:spLocks/>
          </p:cNvSpPr>
          <p:nvPr/>
        </p:nvSpPr>
        <p:spPr>
          <a:xfrm>
            <a:off x="4657326" y="3873500"/>
            <a:ext cx="2877345" cy="2332758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algn="ctr"/>
            <a:r>
              <a:rPr lang="de-DE" sz="1400" kern="0" dirty="0"/>
              <a:t>Martin Hellmich</a:t>
            </a:r>
          </a:p>
          <a:p>
            <a:pPr algn="ctr"/>
            <a:r>
              <a:rPr lang="de-DE" sz="1400" b="0" kern="0" dirty="0"/>
              <a:t>Performance Engineer</a:t>
            </a:r>
          </a:p>
          <a:p>
            <a:pPr algn="ctr"/>
            <a:r>
              <a:rPr lang="de-DE" sz="1400" b="0" kern="0" dirty="0"/>
              <a:t>SAP SE</a:t>
            </a:r>
          </a:p>
          <a:p>
            <a:pPr algn="ctr"/>
            <a:endParaRPr lang="de-DE" sz="1200" kern="0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E22CD6-DC96-65CB-6895-424A7F4258EE}"/>
              </a:ext>
            </a:extLst>
          </p:cNvPr>
          <p:cNvSpPr txBox="1">
            <a:spLocks/>
          </p:cNvSpPr>
          <p:nvPr/>
        </p:nvSpPr>
        <p:spPr>
          <a:xfrm>
            <a:off x="8892413" y="3873500"/>
            <a:ext cx="2876400" cy="2332758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algn="ctr"/>
            <a:r>
              <a:rPr lang="de-DE" sz="1400" kern="0" dirty="0"/>
              <a:t>Claudia Semmler</a:t>
            </a:r>
          </a:p>
          <a:p>
            <a:pPr algn="ctr"/>
            <a:r>
              <a:rPr lang="de-DE" sz="1400" b="0" kern="0" dirty="0"/>
              <a:t>Performance &amp; </a:t>
            </a:r>
            <a:r>
              <a:rPr lang="de-DE" sz="1400" b="0" kern="0" dirty="0" err="1"/>
              <a:t>Scalability</a:t>
            </a:r>
            <a:r>
              <a:rPr lang="de-DE" sz="1400" b="0" kern="0" dirty="0"/>
              <a:t> Expert</a:t>
            </a:r>
          </a:p>
          <a:p>
            <a:pPr algn="ctr"/>
            <a:r>
              <a:rPr lang="de-DE" sz="1400" b="0" kern="0" dirty="0"/>
              <a:t>SAP SE</a:t>
            </a:r>
          </a:p>
          <a:p>
            <a:pPr algn="ctr"/>
            <a:endParaRPr lang="de-DE" sz="1200" kern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8035D5-3612-423F-862A-EE67115CD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1" t="4536" r="16023" b="32038"/>
          <a:stretch>
            <a:fillRect/>
          </a:stretch>
        </p:blipFill>
        <p:spPr>
          <a:xfrm rot="-360000">
            <a:off x="9428351" y="1871226"/>
            <a:ext cx="1804524" cy="180452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43837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548AB-F84B-D036-E453-F7EF0999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6A696C-71D8-0E60-5250-262ACD77B2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Front-end </a:t>
            </a:r>
            <a:r>
              <a:rPr lang="de-DE" dirty="0" err="1"/>
              <a:t>application</a:t>
            </a:r>
            <a:endParaRPr lang="de-DE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921E64B-6665-EE65-706F-433BDCF50D37}"/>
              </a:ext>
            </a:extLst>
          </p:cNvPr>
          <p:cNvSpPr txBox="1">
            <a:spLocks/>
          </p:cNvSpPr>
          <p:nvPr/>
        </p:nvSpPr>
        <p:spPr>
          <a:xfrm>
            <a:off x="504000" y="1548000"/>
            <a:ext cx="5929751" cy="4787900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lvl="1"/>
            <a:r>
              <a:rPr lang="de-DE" kern="0" dirty="0"/>
              <a:t>Responsive </a:t>
            </a:r>
            <a:r>
              <a:rPr lang="de-DE" kern="0" dirty="0" err="1"/>
              <a:t>across</a:t>
            </a:r>
            <a:r>
              <a:rPr lang="de-DE" kern="0" dirty="0"/>
              <a:t> </a:t>
            </a:r>
            <a:r>
              <a:rPr lang="de-DE" kern="0" dirty="0" err="1"/>
              <a:t>browsers</a:t>
            </a:r>
            <a:r>
              <a:rPr lang="de-DE" kern="0" dirty="0"/>
              <a:t> and </a:t>
            </a:r>
            <a:r>
              <a:rPr lang="de-DE" kern="0" dirty="0" err="1"/>
              <a:t>devices</a:t>
            </a:r>
            <a:endParaRPr lang="de-DE" kern="0" dirty="0"/>
          </a:p>
          <a:p>
            <a:pPr lvl="1"/>
            <a:r>
              <a:rPr lang="de-DE" kern="0" dirty="0"/>
              <a:t>Translation and </a:t>
            </a:r>
            <a:r>
              <a:rPr lang="de-DE" kern="0" dirty="0" err="1"/>
              <a:t>internationalization</a:t>
            </a:r>
            <a:r>
              <a:rPr lang="de-DE" kern="0" dirty="0"/>
              <a:t> support</a:t>
            </a:r>
          </a:p>
          <a:p>
            <a:pPr lvl="1"/>
            <a:r>
              <a:rPr lang="en-US" kern="0" dirty="0"/>
              <a:t>Extensibility concepts at code and application level</a:t>
            </a:r>
          </a:p>
          <a:p>
            <a:pPr lvl="1"/>
            <a:r>
              <a:rPr lang="en-US" kern="0" dirty="0"/>
              <a:t>Standards like MVC, OData, JSON, XML and others</a:t>
            </a:r>
          </a:p>
          <a:p>
            <a:pPr lvl="1"/>
            <a:r>
              <a:rPr lang="en-US" kern="0" dirty="0"/>
              <a:t>Predefine theme, custom theme or High Contrast theme to aid visually impaired users</a:t>
            </a:r>
          </a:p>
          <a:p>
            <a:pPr lvl="1"/>
            <a:r>
              <a:rPr lang="en-US" kern="0" dirty="0"/>
              <a:t>And much more…</a:t>
            </a:r>
            <a:endParaRPr lang="de-DE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CB135-614A-C242-AD13-7CF2D434E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92" y="2284971"/>
            <a:ext cx="47244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508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D57D-8D5E-E2F4-AA3E-88CB72A1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AA49F1-EC9F-9284-6C52-FD860AC7B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Front-end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BA1541-3EFA-80AE-A69C-172836121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96" y="1304589"/>
            <a:ext cx="8809484" cy="47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7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900E2-FBA0-146D-D8BC-4AFBBE7BB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A05A4B-B258-673A-4410-07C34FFAC3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How </a:t>
            </a:r>
            <a:r>
              <a:rPr lang="de-DE" dirty="0" err="1"/>
              <a:t>browsers</a:t>
            </a:r>
            <a:r>
              <a:rPr lang="de-DE" dirty="0"/>
              <a:t> </a:t>
            </a:r>
            <a:r>
              <a:rPr lang="de-DE" dirty="0" err="1"/>
              <a:t>work</a:t>
            </a:r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FA689C-DCCB-EA75-B01A-500EB3B70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293" y="1244204"/>
            <a:ext cx="8626588" cy="479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13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76A0-C998-2E1C-677C-B5D44D23E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B805CE-6A4E-0AF6-C983-0B611617AA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First-level break-down to frontend, network and backend performance issues</a:t>
            </a:r>
            <a:endParaRPr lang="de-DE" dirty="0"/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A3118F53-4D0A-C3DF-84A8-479EA0BFC39D}"/>
              </a:ext>
            </a:extLst>
          </p:cNvPr>
          <p:cNvSpPr/>
          <p:nvPr/>
        </p:nvSpPr>
        <p:spPr bwMode="gray">
          <a:xfrm>
            <a:off x="503999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caching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412A5855-56D2-8181-1BC2-B25AE45A57A7}"/>
              </a:ext>
            </a:extLst>
          </p:cNvPr>
          <p:cNvSpPr/>
          <p:nvPr/>
        </p:nvSpPr>
        <p:spPr bwMode="gray">
          <a:xfrm>
            <a:off x="3263924" y="2882479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Network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quality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0E65276-EC7A-7EFA-22AD-03CD7E0B6132}"/>
              </a:ext>
            </a:extLst>
          </p:cNvPr>
          <p:cNvSpPr/>
          <p:nvPr/>
        </p:nvSpPr>
        <p:spPr bwMode="gray">
          <a:xfrm>
            <a:off x="5950460" y="1090382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Big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gaps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8CADC462-971F-3688-24B5-692E2FCDBECF}"/>
              </a:ext>
            </a:extLst>
          </p:cNvPr>
          <p:cNvSpPr/>
          <p:nvPr/>
        </p:nvSpPr>
        <p:spPr bwMode="gray">
          <a:xfrm>
            <a:off x="5950460" y="3949666"/>
            <a:ext cx="1937801" cy="1083958"/>
          </a:xfrm>
          <a:prstGeom prst="diamond">
            <a:avLst/>
          </a:prstGeom>
          <a:solidFill>
            <a:srgbClr val="002A86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Long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running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oData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calls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8AE860-72D3-55F8-464C-97062370830C}"/>
              </a:ext>
            </a:extLst>
          </p:cNvPr>
          <p:cNvCxnSpPr/>
          <p:nvPr/>
        </p:nvCxnSpPr>
        <p:spPr>
          <a:xfrm>
            <a:off x="2441800" y="3424458"/>
            <a:ext cx="822124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07B5D0-FA97-BC9C-4059-C333B3DE6E50}"/>
              </a:ext>
            </a:extLst>
          </p:cNvPr>
          <p:cNvCxnSpPr>
            <a:endCxn id="4" idx="1"/>
          </p:cNvCxnSpPr>
          <p:nvPr/>
        </p:nvCxnSpPr>
        <p:spPr>
          <a:xfrm flipV="1">
            <a:off x="5201725" y="1632361"/>
            <a:ext cx="748735" cy="179613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49A508-CDBE-4020-8833-E27DE6DFFC09}"/>
              </a:ext>
            </a:extLst>
          </p:cNvPr>
          <p:cNvCxnSpPr/>
          <p:nvPr/>
        </p:nvCxnSpPr>
        <p:spPr>
          <a:xfrm>
            <a:off x="5201725" y="3424458"/>
            <a:ext cx="748735" cy="1067187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E6D90E-5ECA-9D49-C9A2-18A49E86A6F9}"/>
              </a:ext>
            </a:extLst>
          </p:cNvPr>
          <p:cNvCxnSpPr/>
          <p:nvPr/>
        </p:nvCxnSpPr>
        <p:spPr>
          <a:xfrm>
            <a:off x="1472899" y="3966437"/>
            <a:ext cx="0" cy="42389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E806F7-407F-0BB8-E10A-BDC5043DE2E2}"/>
              </a:ext>
            </a:extLst>
          </p:cNvPr>
          <p:cNvSpPr txBox="1"/>
          <p:nvPr/>
        </p:nvSpPr>
        <p:spPr>
          <a:xfrm>
            <a:off x="2295023" y="3444528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89130-7C74-2D56-A012-E85815E515E7}"/>
              </a:ext>
            </a:extLst>
          </p:cNvPr>
          <p:cNvSpPr txBox="1"/>
          <p:nvPr/>
        </p:nvSpPr>
        <p:spPr>
          <a:xfrm>
            <a:off x="1485957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2B16F6-C947-51AD-D84F-15A8242312CF}"/>
              </a:ext>
            </a:extLst>
          </p:cNvPr>
          <p:cNvSpPr txBox="1"/>
          <p:nvPr/>
        </p:nvSpPr>
        <p:spPr>
          <a:xfrm>
            <a:off x="5234091" y="3304624"/>
            <a:ext cx="25968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61B3D-A7D4-11C5-5859-CF1C3146B2D3}"/>
              </a:ext>
            </a:extLst>
          </p:cNvPr>
          <p:cNvSpPr txBox="1"/>
          <p:nvPr/>
        </p:nvSpPr>
        <p:spPr>
          <a:xfrm>
            <a:off x="4379601" y="3912866"/>
            <a:ext cx="5883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Not OK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FAEF51-89D9-7902-5F70-4AA4B8EED9AF}"/>
              </a:ext>
            </a:extLst>
          </p:cNvPr>
          <p:cNvCxnSpPr>
            <a:stCxn id="3" idx="2"/>
            <a:endCxn id="17" idx="0"/>
          </p:cNvCxnSpPr>
          <p:nvPr/>
        </p:nvCxnSpPr>
        <p:spPr>
          <a:xfrm>
            <a:off x="4232825" y="3966437"/>
            <a:ext cx="10478" cy="437979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892061-E45B-5812-0D0B-3C3C54AE3D71}"/>
              </a:ext>
            </a:extLst>
          </p:cNvPr>
          <p:cNvSpPr/>
          <p:nvPr/>
        </p:nvSpPr>
        <p:spPr bwMode="gray">
          <a:xfrm>
            <a:off x="528590" y="4390330"/>
            <a:ext cx="1900701" cy="1669383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settings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for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better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performance</a:t>
            </a:r>
            <a:endParaRPr kumimoji="0" lang="de-DE" sz="1400" b="0" i="0" u="none" strike="noStrike" kern="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indent="-285750" defTabSz="9144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IT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policy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E75E82-2195-E0AB-F2F0-944E3AA64152}"/>
              </a:ext>
            </a:extLst>
          </p:cNvPr>
          <p:cNvSpPr/>
          <p:nvPr/>
        </p:nvSpPr>
        <p:spPr bwMode="gray">
          <a:xfrm>
            <a:off x="3292952" y="4404416"/>
            <a:ext cx="1900701" cy="1655298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Latency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&lt; 200ms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Bandwith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&gt; 2 Mbps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0F3CBD-0D6F-B11B-F913-41097A1815C2}"/>
              </a:ext>
            </a:extLst>
          </p:cNvPr>
          <p:cNvSpPr/>
          <p:nvPr/>
        </p:nvSpPr>
        <p:spPr bwMode="gray">
          <a:xfrm>
            <a:off x="7552896" y="5013416"/>
            <a:ext cx="2161515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backend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baseline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baseline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database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B5A1FA2-15B4-8054-1F4D-B14B902751F8}"/>
              </a:ext>
            </a:extLst>
          </p:cNvPr>
          <p:cNvCxnSpPr>
            <a:stCxn id="6" idx="2"/>
            <a:endCxn id="18" idx="1"/>
          </p:cNvCxnSpPr>
          <p:nvPr/>
        </p:nvCxnSpPr>
        <p:spPr>
          <a:xfrm rot="16200000" flipH="1">
            <a:off x="6906793" y="5046191"/>
            <a:ext cx="658670" cy="633535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682895-908C-650E-AA2B-BB3B65AE0A09}"/>
              </a:ext>
            </a:extLst>
          </p:cNvPr>
          <p:cNvSpPr txBox="1"/>
          <p:nvPr/>
        </p:nvSpPr>
        <p:spPr>
          <a:xfrm>
            <a:off x="7019803" y="5033506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2799F1-67FA-C41B-9462-6F4EC9299EE1}"/>
              </a:ext>
            </a:extLst>
          </p:cNvPr>
          <p:cNvSpPr txBox="1"/>
          <p:nvPr/>
        </p:nvSpPr>
        <p:spPr>
          <a:xfrm>
            <a:off x="7773646" y="1267447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6BFE1A-58E0-7270-DEB3-0A823C60C225}"/>
              </a:ext>
            </a:extLst>
          </p:cNvPr>
          <p:cNvSpPr/>
          <p:nvPr/>
        </p:nvSpPr>
        <p:spPr bwMode="gray">
          <a:xfrm>
            <a:off x="7552895" y="2004062"/>
            <a:ext cx="1900701" cy="1857827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Most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probably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high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browser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rendering</a:t>
            </a:r>
            <a:r>
              <a:rPr kumimoji="0" lang="de-DE" sz="1400" b="0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</a:t>
            </a: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Also high JavaScript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processing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time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EAC7481-9BD2-715C-3C6C-A3356F3CCE51}"/>
              </a:ext>
            </a:extLst>
          </p:cNvPr>
          <p:cNvCxnSpPr>
            <a:stCxn id="4" idx="2"/>
            <a:endCxn id="22" idx="1"/>
          </p:cNvCxnSpPr>
          <p:nvPr/>
        </p:nvCxnSpPr>
        <p:spPr>
          <a:xfrm rot="16200000" flipH="1">
            <a:off x="6856810" y="2236891"/>
            <a:ext cx="758636" cy="633534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74D998D-6095-4BC5-6E92-FEF3BB194BDC}"/>
              </a:ext>
            </a:extLst>
          </p:cNvPr>
          <p:cNvSpPr txBox="1"/>
          <p:nvPr/>
        </p:nvSpPr>
        <p:spPr>
          <a:xfrm>
            <a:off x="6968603" y="2161482"/>
            <a:ext cx="3093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>
                <a:ea typeface="Arial Unicode MS" pitchFamily="34" charset="-128"/>
                <a:cs typeface="Arial Unicode MS" pitchFamily="34" charset="-128"/>
              </a:rPr>
              <a:t>Yes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7BE5E5-AAAA-81F5-2980-42C49D1E8E10}"/>
              </a:ext>
            </a:extLst>
          </p:cNvPr>
          <p:cNvSpPr txBox="1"/>
          <p:nvPr/>
        </p:nvSpPr>
        <p:spPr>
          <a:xfrm>
            <a:off x="7773646" y="4139302"/>
            <a:ext cx="22923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de-DE" sz="1400" kern="0" dirty="0" err="1">
                <a:ea typeface="Arial Unicode MS" pitchFamily="34" charset="-128"/>
                <a:cs typeface="Arial Unicode MS" pitchFamily="34" charset="-128"/>
              </a:rPr>
              <a:t>No</a:t>
            </a:r>
            <a:endParaRPr lang="de-DE" sz="14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274C46-6000-AA7E-D674-45A24BD02C15}"/>
              </a:ext>
            </a:extLst>
          </p:cNvPr>
          <p:cNvSpPr/>
          <p:nvPr/>
        </p:nvSpPr>
        <p:spPr bwMode="gray">
          <a:xfrm>
            <a:off x="10087130" y="2798140"/>
            <a:ext cx="1900701" cy="1357755"/>
          </a:xfrm>
          <a:prstGeom prst="roundRect">
            <a:avLst/>
          </a:prstGeom>
          <a:solidFill>
            <a:srgbClr val="0070F2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local</a:t>
            </a:r>
            <a:r>
              <a:rPr kumimoji="0" lang="de-DE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  <a:r>
              <a:rPr kumimoji="0" lang="de-DE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machine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  <a:p>
            <a:pPr marL="285750" marR="0" indent="-28575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  <a:tabLst/>
            </a:pP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Check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customer</a:t>
            </a:r>
            <a:r>
              <a:rPr lang="de-DE" sz="1400" kern="0" dirty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expectation</a:t>
            </a:r>
            <a:endParaRPr kumimoji="0" lang="de-DE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14E393A-DA99-0120-C9EC-EC38E466BE95}"/>
              </a:ext>
            </a:extLst>
          </p:cNvPr>
          <p:cNvCxnSpPr>
            <a:stCxn id="4" idx="3"/>
            <a:endCxn id="26" idx="0"/>
          </p:cNvCxnSpPr>
          <p:nvPr/>
        </p:nvCxnSpPr>
        <p:spPr>
          <a:xfrm>
            <a:off x="7888261" y="1632361"/>
            <a:ext cx="3149220" cy="1165779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77DF6E4-747D-C40B-9B64-0701F53FD4FE}"/>
              </a:ext>
            </a:extLst>
          </p:cNvPr>
          <p:cNvCxnSpPr>
            <a:stCxn id="6" idx="3"/>
            <a:endCxn id="26" idx="2"/>
          </p:cNvCxnSpPr>
          <p:nvPr/>
        </p:nvCxnSpPr>
        <p:spPr>
          <a:xfrm flipV="1">
            <a:off x="7888261" y="4155895"/>
            <a:ext cx="3149220" cy="335750"/>
          </a:xfrm>
          <a:prstGeom prst="bentConnector2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4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166C-0652-CEA1-53FB-617054B0E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D8F5EDA-111C-F9A3-BDAC-9A3D18F6B5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Fully </a:t>
            </a:r>
            <a:r>
              <a:rPr lang="de-DE" dirty="0" err="1"/>
              <a:t>optimized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– Round-Trips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AF49630-EE42-0D66-F931-43B5746CDD43}"/>
              </a:ext>
            </a:extLst>
          </p:cNvPr>
          <p:cNvSpPr txBox="1">
            <a:spLocks/>
          </p:cNvSpPr>
          <p:nvPr/>
        </p:nvSpPr>
        <p:spPr>
          <a:xfrm>
            <a:off x="504000" y="1548000"/>
            <a:ext cx="11186477" cy="4787900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r>
              <a:rPr lang="en-US" kern="0" dirty="0"/>
              <a:t>Check if round-trips could be avoided or optimized</a:t>
            </a:r>
          </a:p>
          <a:p>
            <a:pPr lvl="1"/>
            <a:r>
              <a:rPr lang="en-US" kern="0" dirty="0"/>
              <a:t>Can it be removed completely (i.e. not used libraries, </a:t>
            </a:r>
            <a:r>
              <a:rPr lang="en-US" kern="0" dirty="0" err="1"/>
              <a:t>out-dated</a:t>
            </a:r>
            <a:r>
              <a:rPr lang="en-US" kern="0" dirty="0"/>
              <a:t> library, 3</a:t>
            </a:r>
            <a:r>
              <a:rPr lang="en-US" kern="0" baseline="30000" dirty="0"/>
              <a:t>rd</a:t>
            </a:r>
            <a:r>
              <a:rPr lang="en-US" kern="0" dirty="0"/>
              <a:t>-party library duplicating browser functionality)?</a:t>
            </a:r>
          </a:p>
          <a:p>
            <a:pPr lvl="1"/>
            <a:r>
              <a:rPr lang="en-US" kern="0" dirty="0"/>
              <a:t>Can it be merged/aggregated to other requests (</a:t>
            </a:r>
            <a:r>
              <a:rPr lang="en-US" kern="0" dirty="0">
                <a:latin typeface="Consolas" panose="020B0609020204030204" pitchFamily="49" charset="0"/>
              </a:rPr>
              <a:t>$batch</a:t>
            </a:r>
            <a:r>
              <a:rPr lang="en-US" kern="0" dirty="0"/>
              <a:t>, </a:t>
            </a:r>
            <a:r>
              <a:rPr lang="en-US" kern="0" dirty="0">
                <a:latin typeface="Consolas" panose="020B0609020204030204" pitchFamily="49" charset="0"/>
              </a:rPr>
              <a:t>$expand</a:t>
            </a:r>
            <a:r>
              <a:rPr lang="en-US" kern="0" dirty="0"/>
              <a:t>, sprites, aggregated libraries …)?</a:t>
            </a:r>
          </a:p>
          <a:p>
            <a:pPr lvl="1"/>
            <a:r>
              <a:rPr lang="en-US" kern="0" dirty="0"/>
              <a:t>Can it be cached in the browser cache?</a:t>
            </a:r>
          </a:p>
          <a:p>
            <a:pPr lvl="1"/>
            <a:r>
              <a:rPr lang="en-US" kern="0" dirty="0"/>
              <a:t>Can it be cached for longer time?</a:t>
            </a:r>
          </a:p>
          <a:p>
            <a:pPr lvl="1"/>
            <a:r>
              <a:rPr lang="en-US" kern="0" dirty="0"/>
              <a:t>Can it be served through Content Delivery Network (CDN)?</a:t>
            </a:r>
          </a:p>
          <a:p>
            <a:pPr lvl="1"/>
            <a:r>
              <a:rPr lang="en-US" kern="0" dirty="0"/>
              <a:t>Can it be loaded in later point of time (on demand)?</a:t>
            </a:r>
            <a:endParaRPr lang="de-DE" kern="0" dirty="0"/>
          </a:p>
          <a:p>
            <a:endParaRPr lang="en-DE" kern="0" dirty="0"/>
          </a:p>
        </p:txBody>
      </p:sp>
      <p:sp>
        <p:nvSpPr>
          <p:cNvPr id="4" name="Rectangle: Rounded Corners 8">
            <a:extLst>
              <a:ext uri="{FF2B5EF4-FFF2-40B4-BE49-F238E27FC236}">
                <a16:creationId xmlns:a16="http://schemas.microsoft.com/office/drawing/2014/main" id="{39EBAC8C-DE74-8A69-5E75-E587AF7CD7E0}"/>
              </a:ext>
            </a:extLst>
          </p:cNvPr>
          <p:cNvSpPr/>
          <p:nvPr/>
        </p:nvSpPr>
        <p:spPr bwMode="gray">
          <a:xfrm>
            <a:off x="1812757" y="5459111"/>
            <a:ext cx="8566485" cy="654278"/>
          </a:xfrm>
          <a:prstGeom prst="roundRect">
            <a:avLst>
              <a:gd name="adj" fmla="val 20961"/>
            </a:avLst>
          </a:prstGeom>
          <a:solidFill>
            <a:srgbClr val="D1EFFF"/>
          </a:solidFill>
          <a:ln w="8907" cap="flat">
            <a:noFill/>
            <a:prstDash val="solid"/>
            <a:miter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3963" tIns="71981" rIns="143963" bIns="71981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lvl="1" defTabSz="1088449">
              <a:spcBef>
                <a:spcPts val="1799"/>
              </a:spcBef>
              <a:buClr>
                <a:srgbClr val="5B738B"/>
              </a:buClr>
              <a:buNone/>
            </a:pPr>
            <a:r>
              <a:rPr lang="en-US" sz="2800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The </a:t>
            </a:r>
            <a:r>
              <a:rPr lang="en-US" sz="2800" b="1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fastest</a:t>
            </a:r>
            <a:r>
              <a:rPr lang="en-US" sz="2800" dirty="0">
                <a:solidFill>
                  <a:srgbClr val="002A86"/>
                </a:solidFill>
                <a:latin typeface="72 Brand Book" panose="020B0404030603020204" pitchFamily="34" charset="0"/>
                <a:ea typeface="+mj-ea"/>
                <a:cs typeface="+mj-cs"/>
              </a:rPr>
              <a:t> round-trip is the one that doesn’t happen!</a:t>
            </a:r>
            <a:endParaRPr lang="en-US" sz="2800" dirty="0">
              <a:solidFill>
                <a:srgbClr val="002A86"/>
              </a:solidFill>
              <a:latin typeface="72 Brand Medium" panose="020B05040306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4984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CCE9-4AC3-074C-4D40-B7636A85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3C4330E-595D-7821-47C4-B67561357B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Fully optimized application – Round-Trips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de-DE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AD86796-9627-1A02-B8D3-FB9B1B758B27}"/>
              </a:ext>
            </a:extLst>
          </p:cNvPr>
          <p:cNvSpPr txBox="1">
            <a:spLocks/>
          </p:cNvSpPr>
          <p:nvPr/>
        </p:nvSpPr>
        <p:spPr>
          <a:xfrm>
            <a:off x="502761" y="1154300"/>
            <a:ext cx="11186477" cy="4787900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lvl="1"/>
            <a:r>
              <a:rPr lang="en-US" kern="0" dirty="0"/>
              <a:t>Reduce resource fragmentation (JavaScript, CSS) by merging: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/myCodeList.js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/myCodeDetail.js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/myCodeUtils1.js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/myCodeUtils2.js</a:t>
            </a:r>
          </a:p>
          <a:p>
            <a:pPr lvl="1"/>
            <a:r>
              <a:rPr lang="en-US" kern="0" dirty="0"/>
              <a:t>Avoid loading of resource duplicates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/myCode.js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/some/other.css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/myCode.js</a:t>
            </a:r>
          </a:p>
          <a:p>
            <a:pPr lvl="2">
              <a:spcAft>
                <a:spcPts val="600"/>
              </a:spcAft>
            </a:pPr>
            <a:r>
              <a:rPr lang="en-US" kern="0" dirty="0"/>
              <a:t>/resources/</a:t>
            </a:r>
            <a:r>
              <a:rPr lang="en-US" kern="0" dirty="0" err="1"/>
              <a:t>js</a:t>
            </a:r>
            <a:r>
              <a:rPr lang="en-US" kern="0" dirty="0"/>
              <a:t>/myCode.js</a:t>
            </a:r>
          </a:p>
          <a:p>
            <a:pPr lvl="1"/>
            <a:r>
              <a:rPr lang="en-US" kern="0" dirty="0"/>
              <a:t>Use aggregation of small images/icons</a:t>
            </a:r>
          </a:p>
          <a:p>
            <a:pPr lvl="2">
              <a:spcAft>
                <a:spcPts val="600"/>
              </a:spcAft>
            </a:pPr>
            <a:r>
              <a:rPr lang="en-US" kern="0" dirty="0">
                <a:hlinkClick r:id="rId2"/>
              </a:rPr>
              <a:t>Icon fonts</a:t>
            </a:r>
            <a:endParaRPr lang="en-US" kern="0" dirty="0"/>
          </a:p>
          <a:p>
            <a:pPr lvl="2">
              <a:spcAft>
                <a:spcPts val="600"/>
              </a:spcAft>
            </a:pPr>
            <a:r>
              <a:rPr lang="en-US" kern="0" dirty="0">
                <a:hlinkClick r:id="rId3"/>
              </a:rPr>
              <a:t>CSS sprites</a:t>
            </a:r>
            <a:endParaRPr lang="en-US" kern="0" dirty="0"/>
          </a:p>
          <a:p>
            <a:pPr lvl="2">
              <a:spcAft>
                <a:spcPts val="600"/>
              </a:spcAft>
            </a:pPr>
            <a:r>
              <a:rPr lang="en-US" kern="0" dirty="0">
                <a:hlinkClick r:id="rId4"/>
              </a:rPr>
              <a:t>Image sprites</a:t>
            </a:r>
            <a:r>
              <a:rPr lang="en-US" kern="0" dirty="0"/>
              <a:t> (including </a:t>
            </a:r>
            <a:r>
              <a:rPr lang="en-US" kern="0" dirty="0">
                <a:hlinkClick r:id="rId5"/>
              </a:rPr>
              <a:t>SVG sprites</a:t>
            </a:r>
            <a:r>
              <a:rPr lang="en-US" kern="0" dirty="0"/>
              <a:t>)</a:t>
            </a:r>
          </a:p>
          <a:p>
            <a:endParaRPr lang="en-DE" kern="0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CE707DF6-8792-5E94-A648-C29D64FFD7BE}"/>
              </a:ext>
            </a:extLst>
          </p:cNvPr>
          <p:cNvSpPr/>
          <p:nvPr/>
        </p:nvSpPr>
        <p:spPr>
          <a:xfrm>
            <a:off x="4978373" y="1780692"/>
            <a:ext cx="320417" cy="1158352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76326A5-85AA-1E46-BDA2-E4F39DBE6EAF}"/>
              </a:ext>
            </a:extLst>
          </p:cNvPr>
          <p:cNvSpPr/>
          <p:nvPr/>
        </p:nvSpPr>
        <p:spPr>
          <a:xfrm>
            <a:off x="4280154" y="3614505"/>
            <a:ext cx="184756" cy="244698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B436117-85A8-8FE3-A5CF-E7DC950D0345}"/>
              </a:ext>
            </a:extLst>
          </p:cNvPr>
          <p:cNvSpPr/>
          <p:nvPr/>
        </p:nvSpPr>
        <p:spPr>
          <a:xfrm>
            <a:off x="4280154" y="4283588"/>
            <a:ext cx="320417" cy="542474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80B5BF0-024A-6047-0162-4BAC543A5B2E}"/>
              </a:ext>
            </a:extLst>
          </p:cNvPr>
          <p:cNvSpPr/>
          <p:nvPr/>
        </p:nvSpPr>
        <p:spPr>
          <a:xfrm>
            <a:off x="4877340" y="3793512"/>
            <a:ext cx="320417" cy="780267"/>
          </a:xfrm>
          <a:prstGeom prst="rightBrace">
            <a:avLst/>
          </a:prstGeom>
          <a:ln w="25400">
            <a:solidFill>
              <a:srgbClr val="002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CE647-11D2-B3DC-8A58-559CEAE0D743}"/>
              </a:ext>
            </a:extLst>
          </p:cNvPr>
          <p:cNvSpPr txBox="1"/>
          <p:nvPr/>
        </p:nvSpPr>
        <p:spPr>
          <a:xfrm>
            <a:off x="5482168" y="2221368"/>
            <a:ext cx="22495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/resources/</a:t>
            </a:r>
            <a:r>
              <a:rPr lang="en-US" sz="1800" dirty="0" err="1">
                <a:latin typeface="+mn-lt"/>
              </a:rPr>
              <a:t>js</a:t>
            </a:r>
            <a:r>
              <a:rPr lang="en-US" sz="1800" dirty="0">
                <a:latin typeface="+mn-lt"/>
              </a:rPr>
              <a:t>/myLib.js</a:t>
            </a:r>
            <a:endParaRPr lang="de-DE" sz="1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80946-C6C5-2158-D47A-D6FBB0809C20}"/>
              </a:ext>
            </a:extLst>
          </p:cNvPr>
          <p:cNvSpPr txBox="1"/>
          <p:nvPr/>
        </p:nvSpPr>
        <p:spPr>
          <a:xfrm>
            <a:off x="5419594" y="4009456"/>
            <a:ext cx="210314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dirty="0">
                <a:latin typeface="+mn-lt"/>
              </a:rPr>
              <a:t>Bad Modularization?</a:t>
            </a:r>
            <a:endParaRPr lang="de-DE" sz="1800" dirty="0">
              <a:latin typeface="+mn-lt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BDF126B-AA51-2F27-EDC8-F3782FB9EDAB}"/>
              </a:ext>
            </a:extLst>
          </p:cNvPr>
          <p:cNvSpPr txBox="1">
            <a:spLocks/>
          </p:cNvSpPr>
          <p:nvPr/>
        </p:nvSpPr>
        <p:spPr bwMode="black">
          <a:xfrm>
            <a:off x="7458914" y="4734220"/>
            <a:ext cx="3863136" cy="17390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>
            <a:norm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Clr>
                <a:schemeClr val="tx1"/>
              </a:buClr>
              <a:buNone/>
            </a:pPr>
            <a:r>
              <a:rPr lang="en-US" dirty="0"/>
              <a:t>Use </a:t>
            </a:r>
            <a:r>
              <a:rPr lang="en-US" dirty="0">
                <a:hlinkClick r:id="rId6"/>
              </a:rPr>
              <a:t>UI5 Builder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Library bundling</a:t>
            </a:r>
          </a:p>
          <a:p>
            <a:pPr lvl="2"/>
            <a:r>
              <a:rPr lang="en-US" dirty="0"/>
              <a:t>Component-preload generation</a:t>
            </a:r>
          </a:p>
          <a:p>
            <a:pPr lvl="2"/>
            <a:r>
              <a:rPr lang="en-US" dirty="0"/>
              <a:t>Minify sources</a:t>
            </a:r>
          </a:p>
        </p:txBody>
      </p:sp>
    </p:spTree>
    <p:extLst>
      <p:ext uri="{BB962C8B-B14F-4D97-AF65-F5344CB8AC3E}">
        <p14:creationId xmlns:p14="http://schemas.microsoft.com/office/powerpoint/2010/main" val="308482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6501-92ED-795F-7325-5C70C3A7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07781-1132-A951-15EF-BF64BA9CE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95"/>
          <a:stretch>
            <a:fillRect/>
          </a:stretch>
        </p:blipFill>
        <p:spPr>
          <a:xfrm>
            <a:off x="6360457" y="1548000"/>
            <a:ext cx="5634693" cy="4491428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611185C-0208-C432-6BB4-82D05340CA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Exercises</a:t>
            </a:r>
            <a:r>
              <a:rPr lang="de-DE" dirty="0"/>
              <a:t> </a:t>
            </a:r>
            <a:r>
              <a:rPr lang="de-DE" dirty="0" err="1"/>
              <a:t>overview</a:t>
            </a:r>
            <a:endParaRPr lang="de-DE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800C4C5-CD99-9DC0-75F2-1567828F2C2A}"/>
              </a:ext>
            </a:extLst>
          </p:cNvPr>
          <p:cNvSpPr txBox="1">
            <a:spLocks/>
          </p:cNvSpPr>
          <p:nvPr/>
        </p:nvSpPr>
        <p:spPr>
          <a:xfrm>
            <a:off x="504000" y="1548000"/>
            <a:ext cx="5953950" cy="4787900"/>
          </a:xfrm>
          <a:prstGeom prst="rect">
            <a:avLst/>
          </a:prstGeom>
        </p:spPr>
        <p:txBody>
          <a:bodyPr/>
          <a:lstStyle>
            <a:lvl1pPr marL="457189" indent="-457189" algn="l" defTabSz="916494" rtl="0" eaLnBrk="1" fontAlgn="base" hangingPunct="1">
              <a:spcBef>
                <a:spcPct val="40000"/>
              </a:spcBef>
              <a:spcAft>
                <a:spcPct val="30000"/>
              </a:spcAft>
              <a:buClr>
                <a:srgbClr val="00608C"/>
              </a:buClr>
              <a:buFont typeface="Wingdings" pitchFamily="2" charset="2"/>
              <a:defRPr sz="2400" b="1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1pPr>
            <a:lvl2pPr marL="482588" indent="-239178" algn="l" defTabSz="916494" rtl="0" eaLnBrk="1" fontAlgn="base" hangingPunct="1">
              <a:spcBef>
                <a:spcPct val="0"/>
              </a:spcBef>
              <a:spcAft>
                <a:spcPct val="400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&gt;"/>
              <a:defRPr sz="2133">
                <a:solidFill>
                  <a:srgbClr val="292929"/>
                </a:solidFill>
                <a:latin typeface="+mn-lt"/>
              </a:defRPr>
            </a:lvl2pPr>
            <a:lvl3pPr marL="956709" indent="-237061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chemeClr val="tx2">
                  <a:lumMod val="50000"/>
                </a:schemeClr>
              </a:buClr>
              <a:buSzPct val="120000"/>
              <a:buFont typeface="Arial" panose="020B0604020202020204" pitchFamily="34" charset="0"/>
              <a:buChar char="•"/>
              <a:defRPr sz="1867">
                <a:solidFill>
                  <a:srgbClr val="292929"/>
                </a:solidFill>
                <a:latin typeface="+mn-lt"/>
              </a:defRPr>
            </a:lvl3pPr>
            <a:lvl4pPr marL="235790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974940"/>
              </a:buClr>
              <a:buFont typeface="Wingdings" pitchFamily="2" charset="2"/>
              <a:buChar char="l"/>
              <a:defRPr sz="2133">
                <a:solidFill>
                  <a:srgbClr val="292929"/>
                </a:solidFill>
                <a:latin typeface="+mn-lt"/>
              </a:defRPr>
            </a:lvl4pPr>
            <a:lvl5pPr marL="297384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5pPr>
            <a:lvl6pPr marL="3583428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6pPr>
            <a:lvl7pPr marL="4193013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7pPr>
            <a:lvl8pPr marL="4802597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8pPr>
            <a:lvl9pPr marL="5412182" indent="-361942" algn="l" defTabSz="916494" rtl="0" eaLnBrk="1" fontAlgn="base" hangingPunct="1">
              <a:spcBef>
                <a:spcPct val="0"/>
              </a:spcBef>
              <a:spcAft>
                <a:spcPct val="50000"/>
              </a:spcAft>
              <a:buClr>
                <a:srgbClr val="11124B"/>
              </a:buClr>
              <a:buChar char="§"/>
              <a:defRPr sz="1867">
                <a:solidFill>
                  <a:srgbClr val="292929"/>
                </a:solidFill>
                <a:latin typeface="+mn-lt"/>
              </a:defRPr>
            </a:lvl9pPr>
          </a:lstStyle>
          <a:p>
            <a:pPr lvl="1">
              <a:spcAft>
                <a:spcPts val="600"/>
              </a:spcAft>
            </a:pPr>
            <a:r>
              <a:rPr lang="en-US" kern="0" dirty="0"/>
              <a:t>Getting started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Clone our repository and start the server locally</a:t>
            </a:r>
          </a:p>
          <a:p>
            <a:pPr lvl="1">
              <a:spcAft>
                <a:spcPts val="600"/>
              </a:spcAft>
            </a:pPr>
            <a:r>
              <a:rPr lang="en-US" kern="0" dirty="0"/>
              <a:t>Exercise 1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Introduction to the tools and network traffic</a:t>
            </a:r>
          </a:p>
          <a:p>
            <a:pPr lvl="1">
              <a:spcAft>
                <a:spcPts val="600"/>
              </a:spcAft>
            </a:pPr>
            <a:r>
              <a:rPr lang="en-US" kern="0" dirty="0"/>
              <a:t>Exercise 2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Introduction to UI5 Builder</a:t>
            </a:r>
          </a:p>
          <a:p>
            <a:pPr lvl="1">
              <a:spcAft>
                <a:spcPts val="600"/>
              </a:spcAft>
            </a:pPr>
            <a:r>
              <a:rPr lang="en-US" kern="0" dirty="0"/>
              <a:t>Exercise 3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Deep dive into network traffic</a:t>
            </a:r>
          </a:p>
          <a:p>
            <a:pPr lvl="1">
              <a:spcAft>
                <a:spcPts val="600"/>
              </a:spcAft>
            </a:pPr>
            <a:r>
              <a:rPr lang="en-US" kern="0" dirty="0"/>
              <a:t>Exercise 4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Deep dive into OData requests</a:t>
            </a:r>
          </a:p>
          <a:p>
            <a:pPr lvl="1">
              <a:spcAft>
                <a:spcPts val="600"/>
              </a:spcAft>
            </a:pPr>
            <a:r>
              <a:rPr lang="en-US" kern="0" dirty="0"/>
              <a:t>(Bonus) Exercise 5</a:t>
            </a:r>
          </a:p>
          <a:p>
            <a:pPr marL="179387" lvl="2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b="1" kern="0" dirty="0"/>
              <a:t>Deep dive into additional settings</a:t>
            </a:r>
          </a:p>
        </p:txBody>
      </p:sp>
    </p:spTree>
    <p:extLst>
      <p:ext uri="{BB962C8B-B14F-4D97-AF65-F5344CB8AC3E}">
        <p14:creationId xmlns:p14="http://schemas.microsoft.com/office/powerpoint/2010/main" val="2477972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38304-A617-4C46-75E2-BAB5B3B43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BA0138F-58E7-9BB7-5B73-980763013A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started</a:t>
            </a: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5AF1DD-0423-5F68-2A77-B3472FABB57D}"/>
              </a:ext>
            </a:extLst>
          </p:cNvPr>
          <p:cNvSpPr txBox="1"/>
          <p:nvPr/>
        </p:nvSpPr>
        <p:spPr>
          <a:xfrm>
            <a:off x="1005867" y="1473696"/>
            <a:ext cx="101802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+mn-lt"/>
              </a:rPr>
              <a:t>Clone the repository:</a:t>
            </a:r>
          </a:p>
          <a:p>
            <a:r>
              <a:rPr lang="en-DE" sz="3200" b="1" dirty="0">
                <a:latin typeface="+mn-lt"/>
              </a:rPr>
              <a:t>https://github.com/SAP-samples/teched2025-CA262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46E75-4A85-A741-F735-2A5C734EB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173" y="2550914"/>
            <a:ext cx="3765550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06949"/>
      </p:ext>
    </p:extLst>
  </p:cSld>
  <p:clrMapOvr>
    <a:masterClrMapping/>
  </p:clrMapOvr>
</p:sld>
</file>

<file path=ppt/theme/theme1.xml><?xml version="1.0" encoding="utf-8"?>
<a:theme xmlns:a="http://schemas.openxmlformats.org/drawingml/2006/main" name="DSAG-Technologietage 2024">
  <a:themeElements>
    <a:clrScheme name="Benutzerdefiniert 10">
      <a:dk1>
        <a:srgbClr val="4C4C4C"/>
      </a:dk1>
      <a:lt1>
        <a:srgbClr val="FFFFFF"/>
      </a:lt1>
      <a:dk2>
        <a:srgbClr val="FFFFFF"/>
      </a:dk2>
      <a:lt2>
        <a:srgbClr val="B2B2B2"/>
      </a:lt2>
      <a:accent1>
        <a:srgbClr val="00475B"/>
      </a:accent1>
      <a:accent2>
        <a:srgbClr val="EB5C3F"/>
      </a:accent2>
      <a:accent3>
        <a:srgbClr val="00B3C4"/>
      </a:accent3>
      <a:accent4>
        <a:srgbClr val="121B46"/>
      </a:accent4>
      <a:accent5>
        <a:srgbClr val="2BAC66"/>
      </a:accent5>
      <a:accent6>
        <a:srgbClr val="01324C"/>
      </a:accent6>
      <a:hlink>
        <a:srgbClr val="6679D8"/>
      </a:hlink>
      <a:folHlink>
        <a:srgbClr val="00B3C4"/>
      </a:folHlink>
    </a:clrScheme>
    <a:fontScheme name="DSAG-Jahreskongress 200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FC9E9"/>
        </a:solidFill>
        <a:ln w="9525">
          <a:solidFill>
            <a:schemeClr val="accent1"/>
          </a:solidFill>
        </a:ln>
      </a:spPr>
      <a:bodyPr rtlCol="0" anchor="ctr"/>
      <a:lstStyle>
        <a:defPPr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SAG-Jahreskongress 200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SAG-Jahreskongress 200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7921"/>
        </a:accent1>
        <a:accent2>
          <a:srgbClr val="5D1915"/>
        </a:accent2>
        <a:accent3>
          <a:srgbClr val="FFFFFF"/>
        </a:accent3>
        <a:accent4>
          <a:srgbClr val="000000"/>
        </a:accent4>
        <a:accent5>
          <a:srgbClr val="EBBEAB"/>
        </a:accent5>
        <a:accent6>
          <a:srgbClr val="531612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669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A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0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7022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27300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7BC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690C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F3B9AA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00000"/>
        </a:accent4>
        <a:accent5>
          <a:srgbClr val="BCD3AB"/>
        </a:accent5>
        <a:accent6>
          <a:srgbClr val="21570E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4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3AE21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CD3AB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SAG-Jahreskongress 2009 15">
        <a:dk1>
          <a:srgbClr val="111111"/>
        </a:dk1>
        <a:lt1>
          <a:srgbClr val="FFFFFF"/>
        </a:lt1>
        <a:dk2>
          <a:srgbClr val="FFFFFF"/>
        </a:dk2>
        <a:lt2>
          <a:srgbClr val="B2B2B2"/>
        </a:lt2>
        <a:accent1>
          <a:srgbClr val="7A5E87"/>
        </a:accent1>
        <a:accent2>
          <a:srgbClr val="266111"/>
        </a:accent2>
        <a:accent3>
          <a:srgbClr val="FFFFFF"/>
        </a:accent3>
        <a:accent4>
          <a:srgbClr val="0D0D0D"/>
        </a:accent4>
        <a:accent5>
          <a:srgbClr val="BEB6C3"/>
        </a:accent5>
        <a:accent6>
          <a:srgbClr val="21570E"/>
        </a:accent6>
        <a:hlink>
          <a:srgbClr val="22519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AG-JK-2018 Template_final.potx" id="{9F54080D-7973-41C8-8A07-123A2FDAD6C4}" vid="{EBFDDD2A-1193-4788-B583-CD36A00DE47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1401E68100AF4E92CE105866F279B9" ma:contentTypeVersion="19" ma:contentTypeDescription="Ein neues Dokument erstellen." ma:contentTypeScope="" ma:versionID="abc07be8ff289268f93545dc11c25625">
  <xsd:schema xmlns:xsd="http://www.w3.org/2001/XMLSchema" xmlns:xs="http://www.w3.org/2001/XMLSchema" xmlns:p="http://schemas.microsoft.com/office/2006/metadata/properties" xmlns:ns2="5ee26d32-4b9a-4442-a06d-1b3b9fef35d2" xmlns:ns3="94085d37-dc5b-4c58-a313-508c2321ad0a" targetNamespace="http://schemas.microsoft.com/office/2006/metadata/properties" ma:root="true" ma:fieldsID="d7d6660ebebbb2a10620aeba0b16e294" ns2:_="" ns3:_="">
    <xsd:import namespace="5ee26d32-4b9a-4442-a06d-1b3b9fef35d2"/>
    <xsd:import namespace="94085d37-dc5b-4c58-a313-508c2321ad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26d32-4b9a-4442-a06d-1b3b9fef3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b53bab62-43ea-43ac-8274-592983e83c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85d37-dc5b-4c58-a313-508c2321ad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d4f28ee-678e-4063-b5c2-75c5bcbd93c6}" ma:internalName="TaxCatchAll" ma:showField="CatchAllData" ma:web="94085d37-dc5b-4c58-a313-508c2321ad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e26d32-4b9a-4442-a06d-1b3b9fef35d2">
      <Terms xmlns="http://schemas.microsoft.com/office/infopath/2007/PartnerControls"/>
    </lcf76f155ced4ddcb4097134ff3c332f>
    <TaxCatchAll xmlns="94085d37-dc5b-4c58-a313-508c2321ad0a" xsi:nil="true"/>
  </documentManagement>
</p:properties>
</file>

<file path=customXml/itemProps1.xml><?xml version="1.0" encoding="utf-8"?>
<ds:datastoreItem xmlns:ds="http://schemas.openxmlformats.org/officeDocument/2006/customXml" ds:itemID="{C5AF94F4-AF87-4343-9CAF-C230695FBF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C4E7CF-6A63-4A42-A5F5-7BAD31E704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e26d32-4b9a-4442-a06d-1b3b9fef35d2"/>
    <ds:schemaRef ds:uri="94085d37-dc5b-4c58-a313-508c2321ad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6E6B5D-6D2C-4B09-818D-DF60791AE245}">
  <ds:schemaRefs>
    <ds:schemaRef ds:uri="5ee26d32-4b9a-4442-a06d-1b3b9fef35d2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94085d37-dc5b-4c58-a313-508c2321ad0a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464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72 Brand Book</vt:lpstr>
      <vt:lpstr>72 Brand Medium</vt:lpstr>
      <vt:lpstr>Aptos</vt:lpstr>
      <vt:lpstr>Arial</vt:lpstr>
      <vt:lpstr>Arial Black</vt:lpstr>
      <vt:lpstr>Arial Unicode MS</vt:lpstr>
      <vt:lpstr>Consolas</vt:lpstr>
      <vt:lpstr>Symbol</vt:lpstr>
      <vt:lpstr>Wingdings</vt:lpstr>
      <vt:lpstr>DSAG-Technologietage 2024</vt:lpstr>
      <vt:lpstr>CA262 - Analyze and optimize front-end application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Hofmann</dc:creator>
  <cp:lastModifiedBy>Recio Huertas, Joaquin</cp:lastModifiedBy>
  <cp:revision>20</cp:revision>
  <dcterms:created xsi:type="dcterms:W3CDTF">2024-11-25T09:37:59Z</dcterms:created>
  <dcterms:modified xsi:type="dcterms:W3CDTF">2026-03-12T09:29:06Z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0x010100571401E68100AF4E92CE105866F279B9</vt:lpwstr>
  </property>
  <property fmtid="{D5CDD505-2E9C-101B-9397-08002B2CF9AE}" pid="3" name="MediaServiceImageTags">
    <vt:lpwstr/>
  </property>
</Properties>
</file>